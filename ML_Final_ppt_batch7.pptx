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Distance to target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Distance (m)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UAV 1</c:v>
                </c:pt>
                <c:pt idx="1">
                  <c:v>UAV 2</c:v>
                </c:pt>
                <c:pt idx="2">
                  <c:v>UAV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28.28</c:v>
                </c:pt>
                <c:pt idx="1">
                  <c:v>22.36</c:v>
                </c:pt>
                <c:pt idx="2">
                  <c:v>22.36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metres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Initial estimated arrival times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Initial ETA (s)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UAV 1</c:v>
                </c:pt>
                <c:pt idx="1">
                  <c:v>UAV 2</c:v>
                </c:pt>
                <c:pt idx="2">
                  <c:v>UAV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35.36</c:v>
                </c:pt>
                <c:pt idx="1">
                  <c:v>44.72</c:v>
                </c:pt>
                <c:pt idx="2">
                  <c:v>22.36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seconds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Predicted speeds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speed (m/s)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UAV 1</c:v>
                </c:pt>
                <c:pt idx="1">
                  <c:v>UAV 2</c:v>
                </c:pt>
                <c:pt idx="2">
                  <c:v>UAV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0.629</c:v>
                </c:pt>
                <c:pt idx="1">
                  <c:v>0.498</c:v>
                </c:pt>
                <c:pt idx="2">
                  <c:v>0.496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m/s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Arrival times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 (s)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UAV 1</c:v>
                </c:pt>
                <c:pt idx="1">
                  <c:v>UAV 2</c:v>
                </c:pt>
                <c:pt idx="2">
                  <c:v>UAV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35.36</c:v>
                </c:pt>
                <c:pt idx="1">
                  <c:v>44.72</c:v>
                </c:pt>
                <c:pt idx="2">
                  <c:v>22.36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(s)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UAV 1</c:v>
                </c:pt>
                <c:pt idx="1">
                  <c:v>UAV 2</c:v>
                </c:pt>
                <c:pt idx="2">
                  <c:v>UAV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44.97</c:v>
                </c:pt>
                <c:pt idx="1">
                  <c:v>44.87</c:v>
                </c:pt>
                <c:pt idx="2">
                  <c:v>45.09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seconds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1005840"/>
            <a:ext cx="914400" cy="914400"/>
          </a:xfrm>
          <a:prstGeom prst="ellipse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2103120"/>
            <a:ext cx="594360" cy="594360"/>
          </a:xfrm>
          <a:prstGeom prst="ellipse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20" y="3749039"/>
            <a:ext cx="731520" cy="731520"/>
          </a:xfrm>
          <a:prstGeom prst="ellipse">
            <a:avLst/>
          </a:prstGeom>
          <a:solidFill>
            <a:srgbClr val="2364B4"/>
          </a:solidFill>
          <a:ln>
            <a:solidFill>
              <a:srgbClr val="23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754880"/>
            <a:ext cx="411480" cy="411480"/>
          </a:xfrm>
          <a:prstGeom prst="ellipse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38160" y="5029200"/>
            <a:ext cx="320040" cy="320040"/>
          </a:xfrm>
          <a:prstGeom prst="ellipse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9326880" y="1554480"/>
            <a:ext cx="1188720" cy="822960"/>
          </a:xfrm>
          <a:prstGeom prst="line">
            <a:avLst/>
          </a:prstGeom>
          <a:ln w="254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784080" y="2377440"/>
            <a:ext cx="731520" cy="1737360"/>
          </a:xfrm>
          <a:prstGeom prst="line">
            <a:avLst/>
          </a:prstGeom>
          <a:ln w="254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784080" y="4114800"/>
            <a:ext cx="1371600" cy="822960"/>
          </a:xfrm>
          <a:prstGeom prst="line">
            <a:avLst/>
          </a:prstGeom>
          <a:ln w="254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8321040" y="4114800"/>
            <a:ext cx="1463040" cy="1097280"/>
          </a:xfrm>
          <a:prstGeom prst="line">
            <a:avLst/>
          </a:prstGeom>
          <a:ln w="25400">
            <a:solidFill>
              <a:srgbClr val="DA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640080"/>
            <a:ext cx="7498079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5AEBE"/>
                </a:solidFill>
                <a:latin typeface="Aptos"/>
              </a:defRPr>
            </a:pPr>
            <a:r>
              <a:t>MACHINE LEARNING PROJECT  |  GROUP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325880"/>
            <a:ext cx="7589520" cy="2011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CONTEXTUAL BANDIT-BASED</a:t>
            </a:r>
          </a:p>
          <a:p>
            <a:pPr>
              <a:spcAft>
                <a:spcPts val="700"/>
              </a:spcAft>
              <a:defRPr sz="2900" b="0">
                <a:solidFill>
                  <a:srgbClr val="FFFFFF"/>
                </a:solidFill>
                <a:latin typeface="Aptos"/>
              </a:defRPr>
            </a:pPr>
            <a:r>
              <a:t>ADAPTIVE SYNCHRONIZATION</a:t>
            </a:r>
          </a:p>
          <a:p>
            <a:pPr>
              <a:spcAft>
                <a:spcPts val="700"/>
              </a:spcAft>
              <a:defRPr sz="2900" b="0">
                <a:solidFill>
                  <a:srgbClr val="FFFFFF"/>
                </a:solidFill>
                <a:latin typeface="Aptos"/>
              </a:defRPr>
            </a:pPr>
            <a:r>
              <a:t>AND RETRAINING OF UAV</a:t>
            </a:r>
          </a:p>
          <a:p>
            <a:pPr>
              <a:spcAft>
                <a:spcPts val="700"/>
              </a:spcAft>
              <a:defRPr sz="2900" b="0">
                <a:solidFill>
                  <a:srgbClr val="FFFFFF"/>
                </a:solidFill>
                <a:latin typeface="Aptos"/>
              </a:defRPr>
            </a:pPr>
            <a:r>
              <a:t>NETWORK DIGITAL TWINS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704088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CDDCF0"/>
                </a:solidFill>
                <a:latin typeface="Aptos"/>
              </a:defRPr>
            </a:pPr>
            <a:r>
              <a:t>Machine Learning-Based Adaptive Multi-UAV Coordination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09160"/>
            <a:ext cx="713232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N. Hasini — 2520040039</a:t>
            </a:r>
          </a:p>
          <a:p>
            <a:pPr>
              <a:spcAft>
                <a:spcPts val="7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Ch. Sai Lahari — 2520040023</a:t>
            </a:r>
          </a:p>
          <a:p>
            <a:pPr>
              <a:spcAft>
                <a:spcPts val="7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Guide: Mr. N. Lava Prasad, Assistant Professor, Department of ECE</a:t>
            </a:r>
          </a:p>
          <a:p>
            <a:pPr>
              <a:spcAft>
                <a:spcPts val="7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Course: Machine Learning (25SC2107E)  |  A.Y. 2026–27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92240"/>
            <a:ext cx="91440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B4C5DB"/>
                </a:solidFill>
                <a:latin typeface="Aptos"/>
              </a:defRPr>
            </a:pPr>
            <a:r>
              <a:t>FINAL PROJECT PRESENTATION  •  SOFTWARE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36F80"/>
                </a:solidFill>
                <a:latin typeface="Aptos"/>
              </a:defRPr>
            </a:pPr>
            <a:r>
              <a:t>What the prototype demonstrates—and what remains planned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36F80"/>
                </a:solidFill>
                <a:latin typeface="Aptos"/>
              </a:defRPr>
            </a:pPr>
            <a: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6F8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520440" cy="150876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508760"/>
          </a:xfrm>
          <a:prstGeom prst="rect">
            <a:avLst/>
          </a:prstGeom>
          <a:solidFill>
            <a:srgbClr val="2364B4"/>
          </a:solidFill>
          <a:ln>
            <a:solidFill>
              <a:srgbClr val="23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554480"/>
            <a:ext cx="317296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01 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84248"/>
            <a:ext cx="3172968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Different UAV distances and speeds cause arrival-time mismatch.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520440" cy="150876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82296" cy="150876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554480"/>
            <a:ext cx="317296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02  ML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984248"/>
            <a:ext cx="3172968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A Random Forest model explores required-speed prediction.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520440" cy="150876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82296" cy="150876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554480"/>
            <a:ext cx="317296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03  Synchronization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984248"/>
            <a:ext cx="3172968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A three-UAV simulation compares arrival times before and after speed adjustment.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3337560"/>
            <a:ext cx="3520440" cy="150876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68880" y="3337560"/>
            <a:ext cx="82296" cy="1508760"/>
          </a:xfrm>
          <a:prstGeom prst="rect">
            <a:avLst/>
          </a:prstGeom>
          <a:solidFill>
            <a:srgbClr val="269170"/>
          </a:solidFill>
          <a:ln>
            <a:solidFill>
              <a:srgbClr val="269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0048" y="3474720"/>
            <a:ext cx="317296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04  Context-aware idea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8" y="3904487"/>
            <a:ext cx="3172968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Traffic, load, cost and synchronization error are proposed as decision context.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37560"/>
            <a:ext cx="3520440" cy="150876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337560"/>
            <a:ext cx="82296" cy="1508760"/>
          </a:xfrm>
          <a:prstGeom prst="rect">
            <a:avLst/>
          </a:prstGeom>
          <a:solidFill>
            <a:srgbClr val="BE4C4C"/>
          </a:solidFill>
          <a:ln>
            <a:solidFill>
              <a:srgbClr val="BE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3474720"/>
            <a:ext cx="317296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05  Next stage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3904487"/>
            <a:ext cx="3172968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Train and validate a true online contextual-bandit policy and adaptive retraining loop.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49240"/>
            <a:ext cx="1033272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2203A"/>
                </a:solidFill>
                <a:latin typeface="Aptos"/>
              </a:defRPr>
            </a:pPr>
            <a:r>
              <a:t>Scope note: current evidence is from a software prototype and synthetic scenarios, not real-UAV flight trials.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Background: UAV networks and digital twins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36F80"/>
                </a:solidFill>
                <a:latin typeface="Aptos"/>
              </a:defRPr>
            </a:pPr>
            <a:r>
              <a:t>Why coordination and twin freshness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36F80"/>
                </a:solidFill>
                <a:latin typeface="Aptos"/>
              </a:defRPr>
            </a:pPr>
            <a: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6F8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789920" cy="448056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3040"/>
                </a:solidFill>
                <a:latin typeface="Aptos"/>
              </a:defRPr>
            </a:pPr>
            <a:r>
              <a:t>•  UAVs are used in communication, surveillance, disaster response, inspection and delivery.</a:t>
            </a:r>
          </a:p>
          <a:p>
            <a:pPr>
              <a:spcAft>
                <a:spcPts val="1000"/>
              </a:spcAft>
              <a:defRPr sz="1800">
                <a:solidFill>
                  <a:srgbClr val="263040"/>
                </a:solidFill>
                <a:latin typeface="Aptos"/>
              </a:defRPr>
            </a:pPr>
            <a:r>
              <a:t>•  Each vehicle has its own position, speed, route, battery and communication conditions.</a:t>
            </a:r>
          </a:p>
          <a:p>
            <a:pPr>
              <a:spcAft>
                <a:spcPts val="1000"/>
              </a:spcAft>
              <a:defRPr sz="1800">
                <a:solidFill>
                  <a:srgbClr val="263040"/>
                </a:solidFill>
                <a:latin typeface="Aptos"/>
              </a:defRPr>
            </a:pPr>
            <a:r>
              <a:t>•  A Digital Twin (DT) is a virtual representation used to monitor, estimate and reason about the physical system.</a:t>
            </a:r>
          </a:p>
          <a:p>
            <a:pPr>
              <a:spcAft>
                <a:spcPts val="1000"/>
              </a:spcAft>
              <a:defRPr sz="1800">
                <a:solidFill>
                  <a:srgbClr val="263040"/>
                </a:solidFill>
                <a:latin typeface="Aptos"/>
              </a:defRPr>
            </a:pPr>
            <a:r>
              <a:t>•  The twin can become stale when the real network changes faster than it is updated.</a:t>
            </a:r>
          </a:p>
          <a:p>
            <a:pPr>
              <a:spcAft>
                <a:spcPts val="1000"/>
              </a:spcAft>
              <a:defRPr sz="1800">
                <a:solidFill>
                  <a:srgbClr val="263040"/>
                </a:solidFill>
                <a:latin typeface="Aptos"/>
              </a:defRPr>
            </a:pPr>
            <a:r>
              <a:t>•  Updating too often may consume communication bandwidth, energy and computation; updating too slowly may reduce fidelity.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36F80"/>
                </a:solidFill>
                <a:latin typeface="Aptos"/>
              </a:defRPr>
            </a:pPr>
            <a:r>
              <a:t>Different starting distances and speeds create arrival-time mismatch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36F80"/>
                </a:solidFill>
                <a:latin typeface="Aptos"/>
              </a:defRPr>
            </a:pPr>
            <a: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6F8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3429000" cy="18288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63040"/>
            <a:ext cx="82296" cy="1828800"/>
          </a:xfrm>
          <a:prstGeom prst="rect">
            <a:avLst/>
          </a:prstGeom>
          <a:solidFill>
            <a:srgbClr val="2364B4"/>
          </a:solidFill>
          <a:ln>
            <a:solidFill>
              <a:srgbClr val="23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00200"/>
            <a:ext cx="308152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Unequal travel distances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029968"/>
            <a:ext cx="3081528" cy="11704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The UAVs start at different coordinates and travel toward one common target.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3429000" cy="18288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463040"/>
            <a:ext cx="82296" cy="182880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600200"/>
            <a:ext cx="308152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Unequal speeds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029968"/>
            <a:ext cx="3081528" cy="11704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Different speed values create different estimated arrival times.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63040"/>
            <a:ext cx="3429000" cy="18288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463040"/>
            <a:ext cx="82296" cy="182880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600200"/>
            <a:ext cx="308152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Changing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029968"/>
            <a:ext cx="3081528" cy="11704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Traffic, network load, latency and operational cost can change during a mission.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86200"/>
            <a:ext cx="1024128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2100" b="1">
                <a:solidFill>
                  <a:srgbClr val="12203A"/>
                </a:solidFill>
                <a:latin typeface="Aptos"/>
              </a:defRPr>
            </a:pPr>
            <a:r>
              <a:t>Core question: when should the system MOVE, WAIT/RETAIN, synchronize the twin, or RETRAIN a model?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1024128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500" b="0">
                <a:solidFill>
                  <a:srgbClr val="636F80"/>
                </a:solidFill>
                <a:latin typeface="Aptos"/>
              </a:defRPr>
            </a:pPr>
            <a:r>
              <a:t>A fixed policy may waste resources or react too slowly when conditions change.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Objectives and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36F80"/>
                </a:solidFill>
                <a:latin typeface="Aptos"/>
              </a:defRPr>
            </a:pPr>
            <a:r>
              <a:t>Prototype goals and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36F80"/>
                </a:solidFill>
                <a:latin typeface="Aptos"/>
              </a:defRPr>
            </a:pPr>
            <a: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6F8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789920" cy="448056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t>•  Simulate three UAVs moving toward a common target.</a:t>
            </a:r>
          </a:p>
          <a:p>
            <a:pPr>
              <a:spcAft>
                <a:spcPts val="10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t>•  Calculate distance, estimated arrival time and fleet arrival-time spread.</a:t>
            </a:r>
          </a:p>
          <a:p>
            <a:pPr>
              <a:spcAft>
                <a:spcPts val="10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t>•  Train a baseline Random Forest regressor on synthetic examples of required speed.</a:t>
            </a:r>
          </a:p>
          <a:p>
            <a:pPr>
              <a:spcAft>
                <a:spcPts val="10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t>•  Compare synchronization before and after applying predicted speeds.</a:t>
            </a:r>
          </a:p>
          <a:p>
            <a:pPr>
              <a:spcAft>
                <a:spcPts val="10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t>•  Define context features and illustrate MOVE / WAIT / RETRAIN decisions.</a:t>
            </a:r>
          </a:p>
          <a:p>
            <a:pPr>
              <a:spcAft>
                <a:spcPts val="10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t>•  Document limitations and a practical path toward an evaluated contextual-bandit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Proposed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36F80"/>
                </a:solidFill>
                <a:latin typeface="Aptos"/>
              </a:defRPr>
            </a:pPr>
            <a:r>
              <a:t>Target design: telemetry → prediction → context-aware decision → feedback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36F80"/>
                </a:solidFill>
                <a:latin typeface="Aptos"/>
              </a:defRPr>
            </a:pPr>
            <a: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6F8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103120"/>
            <a:ext cx="1554480" cy="150876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2103120"/>
            <a:ext cx="82296" cy="1508760"/>
          </a:xfrm>
          <a:prstGeom prst="rect">
            <a:avLst/>
          </a:prstGeom>
          <a:solidFill>
            <a:srgbClr val="2364B4"/>
          </a:solidFill>
          <a:ln>
            <a:solidFill>
              <a:srgbClr val="23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240279"/>
            <a:ext cx="1207007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UAV / 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670048"/>
            <a:ext cx="1207007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position, speed,</a:t>
            </a:r>
          </a:p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battery, link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65960" y="2834640"/>
            <a:ext cx="411480" cy="0"/>
          </a:xfrm>
          <a:prstGeom prst="line">
            <a:avLst/>
          </a:prstGeom>
          <a:ln w="21590">
            <a:solidFill>
              <a:srgbClr val="63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377440" y="2103120"/>
            <a:ext cx="1554480" cy="150876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77440" y="2103120"/>
            <a:ext cx="82296" cy="150876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78608" y="2240279"/>
            <a:ext cx="1207007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State estimation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670048"/>
            <a:ext cx="1207007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distance, ETA,</a:t>
            </a:r>
          </a:p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sync error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31920" y="2834640"/>
            <a:ext cx="411480" cy="0"/>
          </a:xfrm>
          <a:prstGeom prst="line">
            <a:avLst/>
          </a:prstGeom>
          <a:ln w="21590">
            <a:solidFill>
              <a:srgbClr val="63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43400" y="2103120"/>
            <a:ext cx="1554480" cy="150876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2103120"/>
            <a:ext cx="82296" cy="1508760"/>
          </a:xfrm>
          <a:prstGeom prst="rect">
            <a:avLst/>
          </a:prstGeom>
          <a:solidFill>
            <a:srgbClr val="2364B4"/>
          </a:solidFill>
          <a:ln>
            <a:solidFill>
              <a:srgbClr val="23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2240279"/>
            <a:ext cx="1207007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ML predictor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2670048"/>
            <a:ext cx="1207007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required speed /</a:t>
            </a:r>
          </a:p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confidence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97880" y="2834640"/>
            <a:ext cx="411480" cy="0"/>
          </a:xfrm>
          <a:prstGeom prst="line">
            <a:avLst/>
          </a:prstGeom>
          <a:ln w="21590">
            <a:solidFill>
              <a:srgbClr val="63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309360" y="2103120"/>
            <a:ext cx="1554480" cy="150876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2103120"/>
            <a:ext cx="82296" cy="1508760"/>
          </a:xfrm>
          <a:prstGeom prst="rect">
            <a:avLst/>
          </a:prstGeom>
          <a:solidFill>
            <a:srgbClr val="269170"/>
          </a:solidFill>
          <a:ln>
            <a:solidFill>
              <a:srgbClr val="269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240279"/>
            <a:ext cx="1207007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Context builder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2670048"/>
            <a:ext cx="1207007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traffic, load,</a:t>
            </a:r>
          </a:p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cost, delay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863840" y="2834640"/>
            <a:ext cx="411480" cy="0"/>
          </a:xfrm>
          <a:prstGeom prst="line">
            <a:avLst/>
          </a:prstGeom>
          <a:ln w="21590">
            <a:solidFill>
              <a:srgbClr val="63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275320" y="2103120"/>
            <a:ext cx="1554480" cy="150876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20" y="2103120"/>
            <a:ext cx="82296" cy="150876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76488" y="2240279"/>
            <a:ext cx="1207007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Decision policy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6488" y="2670048"/>
            <a:ext cx="1207007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MOVE / WAIT /</a:t>
            </a:r>
          </a:p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RETRAIN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829800" y="2834640"/>
            <a:ext cx="411480" cy="0"/>
          </a:xfrm>
          <a:prstGeom prst="line">
            <a:avLst/>
          </a:prstGeom>
          <a:ln w="21590">
            <a:solidFill>
              <a:srgbClr val="63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241280" y="2103120"/>
            <a:ext cx="1554480" cy="150876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241280" y="2103120"/>
            <a:ext cx="82296" cy="150876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42448" y="2240279"/>
            <a:ext cx="1207007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Twin update &amp; 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42448" y="2670048"/>
            <a:ext cx="1207007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act, observe,</a:t>
            </a:r>
          </a:p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reassess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160520"/>
            <a:ext cx="996696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0">
                <a:solidFill>
                  <a:srgbClr val="263040"/>
                </a:solidFill>
                <a:latin typeface="Aptos"/>
              </a:defRPr>
            </a:pPr>
            <a:r>
              <a:t>Feedback loop: compare predicted and observed state; monitor drift and synchronization error; update the policy only when justified.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166360"/>
            <a:ext cx="99669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BE4C4C"/>
                </a:solidFill>
                <a:latin typeface="Aptos"/>
              </a:defRPr>
            </a:pPr>
            <a:r>
              <a:t>Architecture is the intended workflow; not every block is fully implemented in the current prototype.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36F80"/>
                </a:solidFill>
                <a:latin typeface="Aptos"/>
              </a:defRPr>
            </a:pPr>
            <a:r>
              <a:t>Six stages for the proposed adaptive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36F80"/>
                </a:solidFill>
                <a:latin typeface="Aptos"/>
              </a:defRPr>
            </a:pPr>
            <a: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6F8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337560" cy="150876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82296" cy="1508760"/>
          </a:xfrm>
          <a:prstGeom prst="rect">
            <a:avLst/>
          </a:prstGeom>
          <a:solidFill>
            <a:srgbClr val="2364B4"/>
          </a:solidFill>
          <a:ln>
            <a:solidFill>
              <a:srgbClr val="23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45919"/>
            <a:ext cx="29900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1. Collect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75688"/>
            <a:ext cx="2990088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Position, speed, target, network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508760"/>
            <a:ext cx="3337560" cy="150876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508760"/>
            <a:ext cx="82296" cy="150876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1645919"/>
            <a:ext cx="29900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2. Estimate 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075688"/>
            <a:ext cx="2990088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Distance ÷ speed; compare fleet arrivals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508760"/>
            <a:ext cx="3337560" cy="150876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508760"/>
            <a:ext cx="82296" cy="1508760"/>
          </a:xfrm>
          <a:prstGeom prst="rect">
            <a:avLst/>
          </a:prstGeom>
          <a:solidFill>
            <a:srgbClr val="269170"/>
          </a:solidFill>
          <a:ln>
            <a:solidFill>
              <a:srgbClr val="269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645919"/>
            <a:ext cx="29900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3. Predict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075688"/>
            <a:ext cx="2990088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Baseline ML estimates required speed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11879"/>
            <a:ext cx="3337560" cy="150876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611879"/>
            <a:ext cx="82296" cy="150876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749039"/>
            <a:ext cx="29900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4. Build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178807"/>
            <a:ext cx="2990088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Traffic, load, cost, sync error, confidence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3611879"/>
            <a:ext cx="3337560" cy="150876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26280" y="3611879"/>
            <a:ext cx="82296" cy="1508760"/>
          </a:xfrm>
          <a:prstGeom prst="rect">
            <a:avLst/>
          </a:prstGeom>
          <a:solidFill>
            <a:srgbClr val="2364B4"/>
          </a:solidFill>
          <a:ln>
            <a:solidFill>
              <a:srgbClr val="23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27448" y="3749039"/>
            <a:ext cx="29900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5. Choose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4178807"/>
            <a:ext cx="2990088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Policy selects MOVE / WAIT / RETRAIN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611879"/>
            <a:ext cx="3337560" cy="150876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40" y="3611879"/>
            <a:ext cx="82296" cy="150876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3749039"/>
            <a:ext cx="29900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6. Observe feedback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4178807"/>
            <a:ext cx="2990088" cy="8503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Measure outcome and reassess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806440"/>
            <a:ext cx="10058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36F80"/>
                </a:solidFill>
                <a:latin typeface="Aptos"/>
              </a:defRPr>
            </a:pPr>
            <a:r>
              <a:t>The feedback loop is a design goal; a validated online learning loop remains future 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Simulation setup: three UAVs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36F80"/>
                </a:solidFill>
                <a:latin typeface="Aptos"/>
              </a:defRPr>
            </a:pPr>
            <a:r>
              <a:t>Initial coordinates, common target and speeds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36F80"/>
                </a:solidFill>
                <a:latin typeface="Aptos"/>
              </a:defRPr>
            </a:pPr>
            <a: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6F8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212080" cy="18288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82296" cy="1828800"/>
          </a:xfrm>
          <a:prstGeom prst="rect">
            <a:avLst/>
          </a:prstGeom>
          <a:solidFill>
            <a:srgbClr val="2364B4"/>
          </a:solidFill>
          <a:ln>
            <a:solidFill>
              <a:srgbClr val="23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554480"/>
            <a:ext cx="48646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Initial positions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84248"/>
            <a:ext cx="4864608" cy="11704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UAV 1: (0, 0)</a:t>
            </a:r>
          </a:p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UAV 2: (0, 10)</a:t>
            </a:r>
          </a:p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UAV 3: (10, 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212080" cy="18288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82296" cy="182880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554480"/>
            <a:ext cx="48646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Motion parameters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984248"/>
            <a:ext cx="4864608" cy="11704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Common target: (20, 20)</a:t>
            </a:r>
          </a:p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Initial speeds: 0.8, 0.5 and 1.0 m/s</a:t>
            </a:r>
          </a:p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Assumption: straight-line distance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657600"/>
            <a:ext cx="4754880" cy="1965960"/>
          </a:xfrm>
          <a:prstGeom prst="roundRect">
            <a:avLst/>
          </a:prstGeom>
          <a:solidFill>
            <a:srgbClr val="F8FAFD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34440" y="3886200"/>
            <a:ext cx="109728" cy="109728"/>
          </a:xfrm>
          <a:prstGeom prst="ellipse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34440" y="4544568"/>
            <a:ext cx="109728" cy="109728"/>
          </a:xfrm>
          <a:prstGeom prst="ellipse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34440" y="5202936"/>
            <a:ext cx="109728" cy="109728"/>
          </a:xfrm>
          <a:prstGeom prst="ellipse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60320" y="3886200"/>
            <a:ext cx="109728" cy="109728"/>
          </a:xfrm>
          <a:prstGeom prst="ellipse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60320" y="4544568"/>
            <a:ext cx="109728" cy="109728"/>
          </a:xfrm>
          <a:prstGeom prst="ellipse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60320" y="5202936"/>
            <a:ext cx="109728" cy="109728"/>
          </a:xfrm>
          <a:prstGeom prst="ellipse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886200" y="3886200"/>
            <a:ext cx="109728" cy="109728"/>
          </a:xfrm>
          <a:prstGeom prst="ellipse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886200" y="4544568"/>
            <a:ext cx="109728" cy="109728"/>
          </a:xfrm>
          <a:prstGeom prst="ellipse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86200" y="5202936"/>
            <a:ext cx="109728" cy="109728"/>
          </a:xfrm>
          <a:prstGeom prst="ellipse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12079" y="3886200"/>
            <a:ext cx="109728" cy="109728"/>
          </a:xfrm>
          <a:prstGeom prst="ellipse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212079" y="4544568"/>
            <a:ext cx="109728" cy="109728"/>
          </a:xfrm>
          <a:prstGeom prst="ellipse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212079" y="5202936"/>
            <a:ext cx="109728" cy="109728"/>
          </a:xfrm>
          <a:prstGeom prst="ellipse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280160" y="5120640"/>
            <a:ext cx="201168" cy="201168"/>
          </a:xfrm>
          <a:prstGeom prst="ellipse">
            <a:avLst/>
          </a:prstGeom>
          <a:solidFill>
            <a:srgbClr val="2364B4"/>
          </a:solidFill>
          <a:ln>
            <a:solidFill>
              <a:srgbClr val="23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81328" y="5074920"/>
            <a:ext cx="7315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364B4"/>
                </a:solidFill>
                <a:latin typeface="Aptos"/>
              </a:defRPr>
            </a:pPr>
            <a:r>
              <a:t>U1</a:t>
            </a:r>
          </a:p>
        </p:txBody>
      </p:sp>
      <p:sp>
        <p:nvSpPr>
          <p:cNvPr id="31" name="Oval 30"/>
          <p:cNvSpPr/>
          <p:nvPr/>
        </p:nvSpPr>
        <p:spPr>
          <a:xfrm>
            <a:off x="1280160" y="4462272"/>
            <a:ext cx="201168" cy="201168"/>
          </a:xfrm>
          <a:prstGeom prst="ellipse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81328" y="4416552"/>
            <a:ext cx="7315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5AEBE"/>
                </a:solidFill>
                <a:latin typeface="Aptos"/>
              </a:defRPr>
            </a:pPr>
            <a:r>
              <a:t>U2</a:t>
            </a:r>
          </a:p>
        </p:txBody>
      </p:sp>
      <p:sp>
        <p:nvSpPr>
          <p:cNvPr id="33" name="Oval 32"/>
          <p:cNvSpPr/>
          <p:nvPr/>
        </p:nvSpPr>
        <p:spPr>
          <a:xfrm>
            <a:off x="2606040" y="5120640"/>
            <a:ext cx="201168" cy="201168"/>
          </a:xfrm>
          <a:prstGeom prst="ellipse">
            <a:avLst/>
          </a:prstGeom>
          <a:solidFill>
            <a:srgbClr val="269170"/>
          </a:solidFill>
          <a:ln>
            <a:solidFill>
              <a:srgbClr val="269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07208" y="5074920"/>
            <a:ext cx="7315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69170"/>
                </a:solidFill>
                <a:latin typeface="Aptos"/>
              </a:defRPr>
            </a:pPr>
            <a:r>
              <a:t>U3</a:t>
            </a:r>
          </a:p>
        </p:txBody>
      </p:sp>
      <p:sp>
        <p:nvSpPr>
          <p:cNvPr id="35" name="Oval 34"/>
          <p:cNvSpPr/>
          <p:nvPr/>
        </p:nvSpPr>
        <p:spPr>
          <a:xfrm>
            <a:off x="4983480" y="3886200"/>
            <a:ext cx="201168" cy="201168"/>
          </a:xfrm>
          <a:prstGeom prst="ellipse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84648" y="3840480"/>
            <a:ext cx="7315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EB9137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794760"/>
            <a:ext cx="4754880" cy="1463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40"/>
                </a:solidFill>
                <a:latin typeface="Aptos"/>
              </a:defRPr>
            </a:pPr>
            <a:r>
              <a:t>The diagram is schematic, not a geographic map. Coordinates are in metres for the toy simulation; real flight dynamics and obstacles are not modelled.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Distance and initial arrival-time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36F80"/>
                </a:solidFill>
                <a:latin typeface="Aptos"/>
              </a:defRPr>
            </a:pPr>
            <a:r>
              <a:t>Using straight-line distance and ETA = distance / speed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36F80"/>
                </a:solidFill>
                <a:latin typeface="Aptos"/>
              </a:defRPr>
            </a:pPr>
            <a: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6F80"/>
                </a:solidFill>
                <a:latin typeface="Aptos"/>
              </a:defRPr>
            </a:pPr>
            <a:r>
              <a:t>09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1417320"/>
          <a:ext cx="53035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7920" y="1417320"/>
          <a:ext cx="530352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4400" y="5806440"/>
            <a:ext cx="10058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36F80"/>
                </a:solidFill>
                <a:latin typeface="Aptos"/>
              </a:defRPr>
            </a:pPr>
            <a:r>
              <a:t>Values are computed from the stated coordinates and initial speeds; they are not measured flight telemetry.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Synchronization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36F80"/>
                </a:solidFill>
                <a:latin typeface="Aptos"/>
              </a:defRPr>
            </a:pPr>
            <a:r>
              <a:t>Measure the gap between earliest and latest arrival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36F80"/>
                </a:solidFill>
                <a:latin typeface="Aptos"/>
              </a:defRPr>
            </a:pPr>
            <a: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6F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3291840" cy="16002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508760"/>
            <a:ext cx="82296" cy="1600200"/>
          </a:xfrm>
          <a:prstGeom prst="rect">
            <a:avLst/>
          </a:prstGeom>
          <a:solidFill>
            <a:srgbClr val="2364B4"/>
          </a:solidFill>
          <a:ln>
            <a:solidFill>
              <a:srgbClr val="23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645919"/>
            <a:ext cx="294436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Earliest arrival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075688"/>
            <a:ext cx="294436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min(t₁, t₂, t₃)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08760"/>
            <a:ext cx="3291840" cy="16002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508760"/>
            <a:ext cx="82296" cy="160020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645919"/>
            <a:ext cx="294436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Latest arrival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075688"/>
            <a:ext cx="294436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max(t₁, t₂, t₃)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508760"/>
            <a:ext cx="3291840" cy="16002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508760"/>
            <a:ext cx="82296" cy="160020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645919"/>
            <a:ext cx="294436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Arrival-time spread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075688"/>
            <a:ext cx="294436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max(tᵢ) − min(tᵢ)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57600"/>
            <a:ext cx="1033272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12203A"/>
                </a:solidFill>
                <a:latin typeface="Aptos"/>
              </a:defRPr>
            </a:pPr>
            <a:r>
              <a:t>Lower spread means closer arrival-time alignment in this simplified simulation.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636F80"/>
                </a:solidFill>
                <a:latin typeface="Aptos"/>
              </a:defRPr>
            </a:pPr>
            <a:r>
              <a:t>Important: some slides in the source deck also use the label “synchronization error” for a different value. This presentation uses arrival-time spread for the directly interpretable seconds-based comparison.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Machine-learning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36F80"/>
                </a:solidFill>
                <a:latin typeface="Aptos"/>
              </a:defRPr>
            </a:pPr>
            <a:r>
              <a:t>Random Forest regression on synthetic 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36F80"/>
                </a:solidFill>
                <a:latin typeface="Aptos"/>
              </a:defRPr>
            </a:pPr>
            <a: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6F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789920" cy="448056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t>•  Model: RandomForestRegressor with 100 trees.</a:t>
            </a:r>
          </a:p>
          <a:p>
            <a:pPr>
              <a:spcAft>
                <a:spcPts val="10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t>•  Training data: 1,000 synthetic scenarios.</a:t>
            </a:r>
          </a:p>
          <a:p>
            <a:pPr>
              <a:spcAft>
                <a:spcPts val="10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t>•  Features described in the prototype: distance, current speed, arrival time, common time and synchronization error.</a:t>
            </a:r>
          </a:p>
          <a:p>
            <a:pPr>
              <a:spcAft>
                <a:spcPts val="10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t>•  Target: required speed, generated from distance / common time and clipped to 0.2–2.0 m/s.</a:t>
            </a:r>
          </a:p>
          <a:p>
            <a:pPr>
              <a:spcAft>
                <a:spcPts val="10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t>•  Split: 800 training rows and 200 testing rows.</a:t>
            </a:r>
          </a:p>
          <a:p>
            <a:pPr>
              <a:spcAft>
                <a:spcPts val="10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t>•  The model learns a synthetic relationship; performance does not establish generalization to real UAV flight conditions.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ML training and inference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36F80"/>
                </a:solidFill>
                <a:latin typeface="Aptos"/>
              </a:defRPr>
            </a:pPr>
            <a:r>
              <a:t>From generated scenarios to predicted speed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36F80"/>
                </a:solidFill>
                <a:latin typeface="Aptos"/>
              </a:defRPr>
            </a:pPr>
            <a: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6F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57400"/>
            <a:ext cx="1645920" cy="16002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057400"/>
            <a:ext cx="82296" cy="1600200"/>
          </a:xfrm>
          <a:prstGeom prst="rect">
            <a:avLst/>
          </a:prstGeom>
          <a:solidFill>
            <a:srgbClr val="2364B4"/>
          </a:solidFill>
          <a:ln>
            <a:solidFill>
              <a:srgbClr val="23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194560"/>
            <a:ext cx="12984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Generate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624328"/>
            <a:ext cx="129844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Create synthetic</a:t>
            </a:r>
          </a:p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state rows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48840" y="2834640"/>
            <a:ext cx="274320" cy="0"/>
          </a:xfrm>
          <a:prstGeom prst="line">
            <a:avLst/>
          </a:prstGeom>
          <a:ln w="19050">
            <a:solidFill>
              <a:srgbClr val="63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41448" y="2057400"/>
            <a:ext cx="1645920" cy="16002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41448" y="2057400"/>
            <a:ext cx="82296" cy="160020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42616" y="2194560"/>
            <a:ext cx="12984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2616" y="2624328"/>
            <a:ext cx="129844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Select features</a:t>
            </a:r>
          </a:p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and target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87368" y="2834640"/>
            <a:ext cx="274320" cy="0"/>
          </a:xfrm>
          <a:prstGeom prst="line">
            <a:avLst/>
          </a:prstGeom>
          <a:ln w="19050">
            <a:solidFill>
              <a:srgbClr val="63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79976" y="2057400"/>
            <a:ext cx="1645920" cy="16002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9976" y="2057400"/>
            <a:ext cx="82296" cy="1600200"/>
          </a:xfrm>
          <a:prstGeom prst="rect">
            <a:avLst/>
          </a:prstGeom>
          <a:solidFill>
            <a:srgbClr val="269170"/>
          </a:solidFill>
          <a:ln>
            <a:solidFill>
              <a:srgbClr val="269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81144" y="2194560"/>
            <a:ext cx="12984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624328"/>
            <a:ext cx="129844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800 train /</a:t>
            </a:r>
          </a:p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200 test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25896" y="2834640"/>
            <a:ext cx="274320" cy="0"/>
          </a:xfrm>
          <a:prstGeom prst="line">
            <a:avLst/>
          </a:prstGeom>
          <a:ln w="19050">
            <a:solidFill>
              <a:srgbClr val="63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318504" y="2057400"/>
            <a:ext cx="1645920" cy="16002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18504" y="2057400"/>
            <a:ext cx="82296" cy="160020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2194560"/>
            <a:ext cx="12984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2624328"/>
            <a:ext cx="129844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Random Forest</a:t>
            </a:r>
          </a:p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regressor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64424" y="2834640"/>
            <a:ext cx="274320" cy="0"/>
          </a:xfrm>
          <a:prstGeom prst="line">
            <a:avLst/>
          </a:prstGeom>
          <a:ln w="19050">
            <a:solidFill>
              <a:srgbClr val="63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257032" y="2057400"/>
            <a:ext cx="1645920" cy="16002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57032" y="2057400"/>
            <a:ext cx="82296" cy="1600200"/>
          </a:xfrm>
          <a:prstGeom prst="rect">
            <a:avLst/>
          </a:prstGeom>
          <a:solidFill>
            <a:srgbClr val="2364B4"/>
          </a:solidFill>
          <a:ln>
            <a:solidFill>
              <a:srgbClr val="23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2194560"/>
            <a:ext cx="12984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2624328"/>
            <a:ext cx="129844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MAE and R²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902952" y="2834640"/>
            <a:ext cx="274320" cy="0"/>
          </a:xfrm>
          <a:prstGeom prst="line">
            <a:avLst/>
          </a:prstGeom>
          <a:ln w="19050">
            <a:solidFill>
              <a:srgbClr val="636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195560" y="2057400"/>
            <a:ext cx="1645920" cy="16002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95560" y="2057400"/>
            <a:ext cx="82296" cy="1600200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96728" y="2194560"/>
            <a:ext cx="12984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Infer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96728" y="2624328"/>
            <a:ext cx="129844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Predict speed</a:t>
            </a:r>
          </a:p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for each UAV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297680"/>
            <a:ext cx="1024128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BE4C4C"/>
                </a:solidFill>
                <a:latin typeface="Aptos"/>
              </a:defRPr>
            </a:pPr>
            <a:r>
              <a:t>Reproducibility note: because the target is derived from the same scenario features, high test scores can be expected and should not be interpreted as real-world flight accuracy.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Reported synthetic-model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36F80"/>
                </a:solidFill>
                <a:latin typeface="Aptos"/>
              </a:defRPr>
            </a:pPr>
            <a:r>
              <a:t>Metrics shown in the earlier project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36F80"/>
                </a:solidFill>
                <a:latin typeface="Aptos"/>
              </a:defRPr>
            </a:pPr>
            <a: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6F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554480"/>
            <a:ext cx="4480560" cy="196596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554480"/>
            <a:ext cx="82296" cy="1965960"/>
          </a:xfrm>
          <a:prstGeom prst="rect">
            <a:avLst/>
          </a:prstGeom>
          <a:solidFill>
            <a:srgbClr val="2364B4"/>
          </a:solidFill>
          <a:ln>
            <a:solidFill>
              <a:srgbClr val="23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1691639"/>
            <a:ext cx="41330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MAE = 0.0294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121408"/>
            <a:ext cx="4133088" cy="1307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Mean absolute error on the held-out synthetic test split.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554480"/>
            <a:ext cx="4480560" cy="196596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1554480"/>
            <a:ext cx="82296" cy="196596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1691639"/>
            <a:ext cx="413308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R² = 0.9891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2121408"/>
            <a:ext cx="4133088" cy="1307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Coefficient of determination reported for the synthetic test split.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23360"/>
            <a:ext cx="1005840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2203A"/>
                </a:solidFill>
                <a:latin typeface="Aptos"/>
              </a:defRPr>
            </a:pPr>
            <a:r>
              <a:t>Interpretation: the model closely reproduces the synthetic target-generation rule under this setup.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029200"/>
            <a:ext cx="1014984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636F80"/>
                </a:solidFill>
                <a:latin typeface="Aptos"/>
              </a:defRPr>
            </a:pPr>
            <a:r>
              <a:t>These figures are inherited from the project’s reported run; regenerate the notebook to verify them before final submission.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Predicted speed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36F80"/>
                </a:solidFill>
                <a:latin typeface="Aptos"/>
              </a:defRPr>
            </a:pPr>
            <a:r>
              <a:t>Prototype output used to adjust arrival-time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36F80"/>
                </a:solidFill>
                <a:latin typeface="Aptos"/>
              </a:defRPr>
            </a:pPr>
            <a: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6F80"/>
                </a:solidFill>
                <a:latin typeface="Aptos"/>
              </a:defRPr>
            </a:pPr>
            <a:r>
              <a:t>14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914400" y="1417320"/>
          <a:ext cx="64008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26679" y="1828800"/>
            <a:ext cx="3474720" cy="13716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828800"/>
            <a:ext cx="82296" cy="1371600"/>
          </a:xfrm>
          <a:prstGeom prst="rect">
            <a:avLst/>
          </a:prstGeom>
          <a:solidFill>
            <a:srgbClr val="2364B4"/>
          </a:solidFill>
          <a:ln>
            <a:solidFill>
              <a:srgbClr val="23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7848" y="196596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UAV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2395728"/>
            <a:ext cx="3127248" cy="7132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Distance 28.28 m</a:t>
            </a:r>
          </a:p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Predicted speed ≈ 0.629 m/s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3429000"/>
            <a:ext cx="3474720" cy="13716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26679" y="3429000"/>
            <a:ext cx="82296" cy="137160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356616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UAV 2 / UAV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3995928"/>
            <a:ext cx="3127248" cy="7132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Predicted speeds ≈ 0.498 and 0.496 m/s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5074920"/>
            <a:ext cx="32918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36F80"/>
                </a:solidFill>
                <a:latin typeface="Aptos"/>
              </a:defRPr>
            </a:pPr>
            <a:r>
              <a:t>Illustrative software result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Result: arrival-time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36F80"/>
                </a:solidFill>
                <a:latin typeface="Aptos"/>
              </a:defRPr>
            </a:pPr>
            <a:r>
              <a:t>Before and after predicted-speed adjustment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36F80"/>
                </a:solidFill>
                <a:latin typeface="Aptos"/>
              </a:defRPr>
            </a:pPr>
            <a: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6F80"/>
                </a:solidFill>
                <a:latin typeface="Aptos"/>
              </a:defRPr>
            </a:pPr>
            <a:r>
              <a:t>15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141732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46520" y="1645920"/>
            <a:ext cx="4800600" cy="132588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1645920"/>
            <a:ext cx="82296" cy="132588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1783080"/>
            <a:ext cx="445312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Before adjustment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2212848"/>
            <a:ext cx="4453128" cy="6675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35.36 s, 44.72 s, 22.36 s</a:t>
            </a:r>
          </a:p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Spread ≈ 22.36 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246120"/>
            <a:ext cx="4800600" cy="132588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3246120"/>
            <a:ext cx="82296" cy="1325880"/>
          </a:xfrm>
          <a:prstGeom prst="rect">
            <a:avLst/>
          </a:prstGeom>
          <a:solidFill>
            <a:srgbClr val="269170"/>
          </a:solidFill>
          <a:ln>
            <a:solidFill>
              <a:srgbClr val="269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3383279"/>
            <a:ext cx="445312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After adjustment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3813048"/>
            <a:ext cx="4453128" cy="6675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44.97 s, 44.87 s, 45.09 s</a:t>
            </a:r>
          </a:p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Spread ≈ 0.22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983480"/>
            <a:ext cx="45720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2203A"/>
                </a:solidFill>
                <a:latin typeface="Aptos"/>
              </a:defRPr>
            </a:pPr>
            <a:r>
              <a:t>Large reduction in arrival-time spread in the simplified simulation.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Contextual bandit: proposed decision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36F80"/>
                </a:solidFill>
                <a:latin typeface="Aptos"/>
              </a:defRPr>
            </a:pPr>
            <a:r>
              <a:t>The decision depends on context and observed reward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36F80"/>
                </a:solidFill>
                <a:latin typeface="Aptos"/>
              </a:defRPr>
            </a:pPr>
            <a: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6F8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789920" cy="448056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t>•  A contextual bandit observes a context vector, selects an action, and receives feedback or reward.</a:t>
            </a:r>
          </a:p>
          <a:p>
            <a:pPr>
              <a:spcAft>
                <a:spcPts val="10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t>•  Possible context: traffic level, network load, communication delay, synchronization error, model confidence and operational cost.</a:t>
            </a:r>
          </a:p>
          <a:p>
            <a:pPr>
              <a:spcAft>
                <a:spcPts val="10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t>•  Candidate actions: MOVE, WAIT/RETAIN, synchronize/update the twin, or RETRAIN the prediction model.</a:t>
            </a:r>
          </a:p>
          <a:p>
            <a:pPr>
              <a:spcAft>
                <a:spcPts val="10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t>•  A reward could trade off synchronization quality against update frequency, latency, energy and computation.</a:t>
            </a:r>
          </a:p>
          <a:p>
            <a:pPr>
              <a:spcAft>
                <a:spcPts val="1000"/>
              </a:spcAft>
              <a:defRPr sz="1700">
                <a:solidFill>
                  <a:srgbClr val="263040"/>
                </a:solidFill>
                <a:latin typeface="Aptos"/>
              </a:defRPr>
            </a:pPr>
            <a:r>
              <a:t>•  A genuine learning implementation needs a defined policy, reward observations, exploration strategy and evaluation over repeated episodes.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23560"/>
            <a:ext cx="102412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BE4C4C"/>
                </a:solidFill>
                <a:latin typeface="Aptos"/>
              </a:defRPr>
            </a:pPr>
            <a:r>
              <a:t>Current status: action logic is demonstrated illustratively; a validated trained online contextual-bandit policy remains future work.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Context features and why they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36F80"/>
                </a:solidFill>
                <a:latin typeface="Aptos"/>
              </a:defRPr>
            </a:pPr>
            <a:r>
              <a:t>Inputs proposed for the adaptive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36F80"/>
                </a:solidFill>
                <a:latin typeface="Aptos"/>
              </a:defRPr>
            </a:pPr>
            <a: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6F80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474720" cy="141732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82296" cy="1417320"/>
          </a:xfrm>
          <a:prstGeom prst="rect">
            <a:avLst/>
          </a:prstGeom>
          <a:solidFill>
            <a:srgbClr val="2364B4"/>
          </a:solidFill>
          <a:ln>
            <a:solidFill>
              <a:srgbClr val="23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60020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Traffic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029968"/>
            <a:ext cx="3127248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Congestion or mission density can affect movement and communication.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474720" cy="141732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82296" cy="141732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60020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Network 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029968"/>
            <a:ext cx="3127248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High load may increase queueing and update delay.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63040"/>
            <a:ext cx="3474720" cy="141732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463040"/>
            <a:ext cx="82296" cy="141732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60020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Operational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029968"/>
            <a:ext cx="3127248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Energy, bandwidth and computation should be considered.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3383280"/>
            <a:ext cx="3474720" cy="141732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68880" y="3383280"/>
            <a:ext cx="82296" cy="1417320"/>
          </a:xfrm>
          <a:prstGeom prst="rect">
            <a:avLst/>
          </a:prstGeom>
          <a:solidFill>
            <a:srgbClr val="269170"/>
          </a:solidFill>
          <a:ln>
            <a:solidFill>
              <a:srgbClr val="269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0048" y="352044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Synchronization 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8" y="3950208"/>
            <a:ext cx="3127248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A larger arrival-time spread may call for correction.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83280"/>
            <a:ext cx="3474720" cy="141732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383280"/>
            <a:ext cx="82296" cy="1417320"/>
          </a:xfrm>
          <a:prstGeom prst="rect">
            <a:avLst/>
          </a:prstGeom>
          <a:solidFill>
            <a:srgbClr val="BE4C4C"/>
          </a:solidFill>
          <a:ln>
            <a:solidFill>
              <a:srgbClr val="BE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352044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Model confidence / drift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3950208"/>
            <a:ext cx="3127248" cy="7589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Low confidence or rising prediction error may justify validation or retraining.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49240"/>
            <a:ext cx="10241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636F80"/>
                </a:solidFill>
                <a:latin typeface="Aptos"/>
              </a:defRPr>
            </a:pPr>
            <a:r>
              <a:t>These are proposed context variables; the current toy simulation does not provide real network measurements.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Candidate actions: MOVE, WAIT/RETAIN, RETRAIN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36F80"/>
                </a:solidFill>
                <a:latin typeface="Aptos"/>
              </a:defRPr>
            </a:pPr>
            <a:r>
              <a:t>Intended interpretation of each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36F80"/>
                </a:solidFill>
                <a:latin typeface="Aptos"/>
              </a:defRPr>
            </a:pPr>
            <a: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6F80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29000" cy="20574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82296" cy="2057400"/>
          </a:xfrm>
          <a:prstGeom prst="rect">
            <a:avLst/>
          </a:prstGeom>
          <a:solidFill>
            <a:srgbClr val="2364B4"/>
          </a:solidFill>
          <a:ln>
            <a:solidFill>
              <a:srgbClr val="23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83080"/>
            <a:ext cx="308152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MOVE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12848"/>
            <a:ext cx="3081528" cy="1399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Continue or adjust UAV motion using a predicted speed, subject to safety and mission constraints.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45920"/>
            <a:ext cx="3429000" cy="20574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645920"/>
            <a:ext cx="82296" cy="205740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783080"/>
            <a:ext cx="308152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WAIT / RETAIN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212848"/>
            <a:ext cx="3081528" cy="1399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Temporarily hold the current action or retain the existing twin/model when immediate change is not justified.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45920"/>
            <a:ext cx="3429000" cy="20574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645920"/>
            <a:ext cx="82296" cy="205740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783080"/>
            <a:ext cx="308152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RETRAIN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212848"/>
            <a:ext cx="3081528" cy="1399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Trigger model update only after drift/quality checks and sufficient validated data are available.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297680"/>
            <a:ext cx="1014984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BE4C4C"/>
                </a:solidFill>
                <a:latin typeface="Aptos"/>
              </a:defRPr>
            </a:pPr>
            <a:r>
              <a:t>Safety note: a real UAV system must enforce collision avoidance, geofencing, battery reserve, communications-loss handling and operator override independently of the learning policy.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Adaptive reassessment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36F80"/>
                </a:solidFill>
                <a:latin typeface="Aptos"/>
              </a:defRPr>
            </a:pPr>
            <a:r>
              <a:t>A conceptual response to changing conditions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36F80"/>
                </a:solidFill>
                <a:latin typeface="Aptos"/>
              </a:defRPr>
            </a:pPr>
            <a: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6F80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280160"/>
            <a:ext cx="10058400" cy="6858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389888"/>
            <a:ext cx="15087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389888"/>
            <a:ext cx="77724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40"/>
                </a:solidFill>
                <a:latin typeface="Aptos"/>
              </a:defRPr>
            </a:pPr>
            <a:r>
              <a:t>Collect new state and network context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5040" y="1965960"/>
            <a:ext cx="0" cy="228600"/>
          </a:xfrm>
          <a:prstGeom prst="line">
            <a:avLst/>
          </a:prstGeom>
          <a:ln w="19050">
            <a:solidFill>
              <a:srgbClr val="25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05840" y="2194560"/>
            <a:ext cx="10058400" cy="6858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304288"/>
            <a:ext cx="15087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304288"/>
            <a:ext cx="77724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40"/>
                </a:solidFill>
                <a:latin typeface="Aptos"/>
              </a:defRPr>
            </a:pPr>
            <a:r>
              <a:t>Compare prediction error and sync spread with thresholds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35040" y="2880360"/>
            <a:ext cx="0" cy="228600"/>
          </a:xfrm>
          <a:prstGeom prst="line">
            <a:avLst/>
          </a:prstGeom>
          <a:ln w="19050">
            <a:solidFill>
              <a:srgbClr val="25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05840" y="3108960"/>
            <a:ext cx="10058400" cy="6858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218688"/>
            <a:ext cx="15087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218688"/>
            <a:ext cx="77724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40"/>
                </a:solidFill>
                <a:latin typeface="Aptos"/>
              </a:defRPr>
            </a:pPr>
            <a:r>
              <a:t>Select MOVE / WAIT / RETRAIN under constraints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35040" y="3794760"/>
            <a:ext cx="0" cy="228600"/>
          </a:xfrm>
          <a:prstGeom prst="line">
            <a:avLst/>
          </a:prstGeom>
          <a:ln w="19050">
            <a:solidFill>
              <a:srgbClr val="25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05840" y="4023360"/>
            <a:ext cx="10058400" cy="6858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4133088"/>
            <a:ext cx="15087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133088"/>
            <a:ext cx="77724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40"/>
                </a:solidFill>
                <a:latin typeface="Aptos"/>
              </a:defRPr>
            </a:pPr>
            <a:r>
              <a:t>Apply safe action or keep the current 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35040" y="4709160"/>
            <a:ext cx="0" cy="228600"/>
          </a:xfrm>
          <a:prstGeom prst="line">
            <a:avLst/>
          </a:prstGeom>
          <a:ln w="19050">
            <a:solidFill>
              <a:srgbClr val="25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05840" y="4937760"/>
            <a:ext cx="10058400" cy="6858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5047488"/>
            <a:ext cx="15087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364B4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5047488"/>
            <a:ext cx="77724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40"/>
                </a:solidFill>
                <a:latin typeface="Aptos"/>
              </a:defRPr>
            </a:pPr>
            <a:r>
              <a:t>Measure outcome; log reward and model 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989320"/>
            <a:ext cx="98755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36F80"/>
                </a:solidFill>
                <a:latin typeface="Aptos"/>
              </a:defRPr>
            </a:pPr>
            <a:r>
              <a:t>This is a design workflow, not evidence of a fully deployed real-time controller.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Dataset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36F80"/>
                </a:solidFill>
                <a:latin typeface="Aptos"/>
              </a:defRPr>
            </a:pPr>
            <a:r>
              <a:t>Synthetic synchronization data and public flight telemetry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36F80"/>
                </a:solidFill>
                <a:latin typeface="Aptos"/>
              </a:defRPr>
            </a:pPr>
            <a: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6F80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5212080" cy="201168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63040"/>
            <a:ext cx="82296" cy="2011680"/>
          </a:xfrm>
          <a:prstGeom prst="rect">
            <a:avLst/>
          </a:prstGeom>
          <a:solidFill>
            <a:srgbClr val="2364B4"/>
          </a:solidFill>
          <a:ln>
            <a:solidFill>
              <a:srgbClr val="23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00200"/>
            <a:ext cx="48646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Synthetic dataset used for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029968"/>
            <a:ext cx="4864608" cy="13533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1,000 generated scenarios; 800 training and 200 test samples. Target required speed is calculated from distance and common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201168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82296" cy="201168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600200"/>
            <a:ext cx="48646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Public telemetry dataset explored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29968"/>
            <a:ext cx="4864608" cy="13533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Autonomous waypoint mission CSV includes time, position, altitude, velocity/speed and battery fields. It is not labelled for multi-UAV synchronization.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77639"/>
            <a:ext cx="1024128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2364B4"/>
                </a:solidFill>
                <a:latin typeface="Aptos"/>
              </a:defRPr>
            </a:pPr>
            <a:r>
              <a:t>Source repository: https://github.com/yogesh031020/drone-flight-operations-data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09160"/>
            <a:ext cx="1024128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BE4C4C"/>
                </a:solidFill>
                <a:latin typeface="Aptos"/>
              </a:defRPr>
            </a:pPr>
            <a:r>
              <a:t>Dataset limitation: a single-flight telemetry record cannot directly validate fleet arrival synchronization, bandit reward or retraining decisions without additional labels and carefully designed experiments.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Public telemetry: fields and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36F80"/>
                </a:solidFill>
                <a:latin typeface="Aptos"/>
              </a:defRPr>
            </a:pPr>
            <a:r>
              <a:t>Potential use for exploratory analysis—not direct proof of fleet synchronization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36F80"/>
                </a:solidFill>
                <a:latin typeface="Aptos"/>
              </a:defRPr>
            </a:pPr>
            <a: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6F80"/>
                </a:solidFill>
                <a:latin typeface="Aptos"/>
              </a:defRPr>
            </a:pPr>
            <a:r>
              <a:t>21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417320"/>
          <a:ext cx="10789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5852160"/>
              </a:tblGrid>
              <a:tr h="61395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Possible analysis</a:t>
                      </a:r>
                    </a:p>
                  </a:txBody>
                  <a:tcPr>
                    <a:solidFill>
                      <a:srgbClr val="12203A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040"/>
                          </a:solidFill>
                        </a:defRPr>
                      </a:pPr>
                      <a:r>
                        <a:t>time_s</a:t>
                      </a:r>
                    </a:p>
                  </a:txBody>
                  <a:tcPr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040"/>
                          </a:solidFill>
                        </a:defRPr>
                      </a:pPr>
                      <a:r>
                        <a:t>Timestamp / elapsed time</a:t>
                      </a:r>
                    </a:p>
                  </a:txBody>
                  <a:tcPr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040"/>
                          </a:solidFill>
                        </a:defRPr>
                      </a:pPr>
                      <a:r>
                        <a:t>Order samples; derive time intervals</a:t>
                      </a:r>
                    </a:p>
                  </a:txBody>
                  <a:tcPr>
                    <a:solidFill>
                      <a:srgbClr val="EDF4FB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040"/>
                          </a:solidFill>
                        </a:defRPr>
                      </a:pPr>
                      <a:r>
                        <a:t>lat, lon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040"/>
                          </a:solidFill>
                        </a:defRPr>
                      </a:pPr>
                      <a:r>
                        <a:t>Geographic position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040"/>
                          </a:solidFill>
                        </a:defRPr>
                      </a:pPr>
                      <a:r>
                        <a:t>Track route and estimate displacement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040"/>
                          </a:solidFill>
                        </a:defRPr>
                      </a:pPr>
                      <a:r>
                        <a:t>altitude_m</a:t>
                      </a:r>
                    </a:p>
                  </a:txBody>
                  <a:tcPr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040"/>
                          </a:solidFill>
                        </a:defRPr>
                      </a:pPr>
                      <a:r>
                        <a:t>Altitude</a:t>
                      </a:r>
                    </a:p>
                  </a:txBody>
                  <a:tcPr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040"/>
                          </a:solidFill>
                        </a:defRPr>
                      </a:pPr>
                      <a:r>
                        <a:t>Explore vertical profile</a:t>
                      </a:r>
                    </a:p>
                  </a:txBody>
                  <a:tcPr>
                    <a:solidFill>
                      <a:srgbClr val="EDF4FB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040"/>
                          </a:solidFill>
                        </a:defRPr>
                      </a:pPr>
                      <a:r>
                        <a:t>vx_ms, vy_ms, vz_ms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040"/>
                          </a:solidFill>
                        </a:defRPr>
                      </a:pPr>
                      <a:r>
                        <a:t>Velocity components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040"/>
                          </a:solidFill>
                        </a:defRPr>
                      </a:pPr>
                      <a:r>
                        <a:t>Derive or compare speed estimates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040"/>
                          </a:solidFill>
                        </a:defRPr>
                      </a:pPr>
                      <a:r>
                        <a:t>speed_ms</a:t>
                      </a:r>
                    </a:p>
                  </a:txBody>
                  <a:tcPr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040"/>
                          </a:solidFill>
                        </a:defRPr>
                      </a:pPr>
                      <a:r>
                        <a:t>Speed magnitude</a:t>
                      </a:r>
                    </a:p>
                  </a:txBody>
                  <a:tcPr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040"/>
                          </a:solidFill>
                        </a:defRPr>
                      </a:pPr>
                      <a:r>
                        <a:t>Baseline next-sample speed prediction</a:t>
                      </a:r>
                    </a:p>
                  </a:txBody>
                  <a:tcPr>
                    <a:solidFill>
                      <a:srgbClr val="EDF4FB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040"/>
                          </a:solidFill>
                        </a:defRPr>
                      </a:pPr>
                      <a:r>
                        <a:t>battery_pct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040"/>
                          </a:solidFill>
                        </a:defRPr>
                      </a:pPr>
                      <a:r>
                        <a:t>Battery percentage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63040"/>
                          </a:solidFill>
                        </a:defRPr>
                      </a:pPr>
                      <a:r>
                        <a:t>Explore energy state / trend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897880"/>
            <a:ext cx="103327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36F80"/>
                </a:solidFill>
                <a:latin typeface="Aptos"/>
              </a:defRPr>
            </a:pPr>
            <a:r>
              <a:t>Confirm the actual CSV headers, missing values and sampling interval in the notebook before reporting dataset statistics.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Visualizations and evaluation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36F80"/>
                </a:solidFill>
                <a:latin typeface="Aptos"/>
              </a:defRPr>
            </a:pPr>
            <a:r>
              <a:t>What should be plotted and measured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36F80"/>
                </a:solidFill>
                <a:latin typeface="Aptos"/>
              </a:defRPr>
            </a:pPr>
            <a: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6F80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474720" cy="155448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554480"/>
          </a:xfrm>
          <a:prstGeom prst="rect">
            <a:avLst/>
          </a:prstGeom>
          <a:solidFill>
            <a:srgbClr val="2364B4"/>
          </a:solidFill>
          <a:ln>
            <a:solidFill>
              <a:srgbClr val="23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55448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Prediction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84248"/>
            <a:ext cx="3127248" cy="8961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Actual vs predicted speed; residual plot; MAE and R².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474720" cy="155448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82296" cy="155448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55448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Synchronization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984248"/>
            <a:ext cx="3127248" cy="8961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Before/after arrival times; spread over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474720" cy="155448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82296" cy="1554480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55448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Policy behaviour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984248"/>
            <a:ext cx="3127248" cy="8961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Action counts, cumulative reward and regret over episodes.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3383280"/>
            <a:ext cx="3474720" cy="155448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68880" y="3383280"/>
            <a:ext cx="82296" cy="1554480"/>
          </a:xfrm>
          <a:prstGeom prst="rect">
            <a:avLst/>
          </a:prstGeom>
          <a:solidFill>
            <a:srgbClr val="269170"/>
          </a:solidFill>
          <a:ln>
            <a:solidFill>
              <a:srgbClr val="269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0048" y="352044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Twin freshness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8" y="3950208"/>
            <a:ext cx="3127248" cy="8961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Update frequency and prediction error / drift threshold.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83280"/>
            <a:ext cx="3474720" cy="155448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383280"/>
            <a:ext cx="82296" cy="1554480"/>
          </a:xfrm>
          <a:prstGeom prst="rect">
            <a:avLst/>
          </a:prstGeom>
          <a:solidFill>
            <a:srgbClr val="BE4C4C"/>
          </a:solidFill>
          <a:ln>
            <a:solidFill>
              <a:srgbClr val="BE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352044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Resource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3950208"/>
            <a:ext cx="3127248" cy="8961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Communication, energy and compute overhead, if measured.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40680"/>
            <a:ext cx="102412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BE4C4C"/>
                </a:solidFill>
                <a:latin typeface="Aptos"/>
              </a:defRPr>
            </a:pPr>
            <a:r>
              <a:t>Graphs without real measured values must be labelled as simulated or illustrative; do not present them as empirical results.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Results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36F80"/>
                </a:solidFill>
                <a:latin typeface="Aptos"/>
              </a:defRPr>
            </a:pPr>
            <a:r>
              <a:t>What the current prototype supports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36F80"/>
                </a:solidFill>
                <a:latin typeface="Aptos"/>
              </a:defRPr>
            </a:pPr>
            <a: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6F80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474720" cy="16002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82296" cy="1600200"/>
          </a:xfrm>
          <a:prstGeom prst="rect">
            <a:avLst/>
          </a:prstGeom>
          <a:solidFill>
            <a:srgbClr val="2364B4"/>
          </a:solidFill>
          <a:ln>
            <a:solidFill>
              <a:srgbClr val="23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55448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Working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84248"/>
            <a:ext cx="312724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Random Forest regression and speed-prediction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474720" cy="16002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82296" cy="160020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55448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Simulation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984248"/>
            <a:ext cx="312724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Three-UAV arrival-time calculations and comparison.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417320"/>
            <a:ext cx="3474720" cy="1600200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417320"/>
            <a:ext cx="82296" cy="1600200"/>
          </a:xfrm>
          <a:prstGeom prst="rect">
            <a:avLst/>
          </a:prstGeom>
          <a:solidFill>
            <a:srgbClr val="269170"/>
          </a:solidFill>
          <a:ln>
            <a:solidFill>
              <a:srgbClr val="269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1554480"/>
            <a:ext cx="31272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Reported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1984248"/>
            <a:ext cx="312724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Synthetic test MAE 0.0294; R² 0.9891.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703320"/>
            <a:ext cx="1014984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12203A"/>
                </a:solidFill>
                <a:latin typeface="Aptos"/>
              </a:defRPr>
            </a:pPr>
            <a:r>
              <a:t>Reported arrival-time spread: approximately 22.36 s before adjustment and 0.216 s after adjustment in the cited prototype run.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63440"/>
            <a:ext cx="1005840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636F80"/>
                </a:solidFill>
                <a:latin typeface="Aptos"/>
              </a:defRPr>
            </a:pPr>
            <a:r>
              <a:t>These results demonstrate feasibility of the toy synchronization calculation. They do not establish real-world safety, generalization or a trained contextual-bandit advantage.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Limitations and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36F80"/>
                </a:solidFill>
                <a:latin typeface="Aptos"/>
              </a:defRPr>
            </a:pPr>
            <a:r>
              <a:t>Current gaps that matter for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36F80"/>
                </a:solidFill>
                <a:latin typeface="Aptos"/>
              </a:defRPr>
            </a:pPr>
            <a: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6F80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789920" cy="448056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3040"/>
                </a:solidFill>
                <a:latin typeface="Aptos"/>
              </a:defRPr>
            </a:pPr>
            <a:r>
              <a:t>•  Three-UAV, straight-line simulation is a simplified model; no high-fidelity dynamics or obstacle avoidance.</a:t>
            </a:r>
          </a:p>
          <a:p>
            <a:pPr>
              <a:spcAft>
                <a:spcPts val="1000"/>
              </a:spcAft>
              <a:defRPr sz="1600">
                <a:solidFill>
                  <a:srgbClr val="263040"/>
                </a:solidFill>
                <a:latin typeface="Aptos"/>
              </a:defRPr>
            </a:pPr>
            <a:r>
              <a:t>•  Synthetic target generation can make prediction metrics optimistic.</a:t>
            </a:r>
          </a:p>
          <a:p>
            <a:pPr>
              <a:spcAft>
                <a:spcPts val="1000"/>
              </a:spcAft>
              <a:defRPr sz="1600">
                <a:solidFill>
                  <a:srgbClr val="263040"/>
                </a:solidFill>
                <a:latin typeface="Aptos"/>
              </a:defRPr>
            </a:pPr>
            <a:r>
              <a:t>•  Public single-flight telemetry does not itself provide fleet synchronization labels.</a:t>
            </a:r>
          </a:p>
          <a:p>
            <a:pPr>
              <a:spcAft>
                <a:spcPts val="1000"/>
              </a:spcAft>
              <a:defRPr sz="1600">
                <a:solidFill>
                  <a:srgbClr val="263040"/>
                </a:solidFill>
                <a:latin typeface="Aptos"/>
              </a:defRPr>
            </a:pPr>
            <a:r>
              <a:t>•  Contextual-bandit policy and reward must be trained and evaluated across repeated episodes before claiming learned behaviour.</a:t>
            </a:r>
          </a:p>
          <a:p>
            <a:pPr>
              <a:spcAft>
                <a:spcPts val="1000"/>
              </a:spcAft>
              <a:defRPr sz="1600">
                <a:solidFill>
                  <a:srgbClr val="263040"/>
                </a:solidFill>
                <a:latin typeface="Aptos"/>
              </a:defRPr>
            </a:pPr>
            <a:r>
              <a:t>•  Adaptive retraining needs drift detection, data validation, rollback and safety checks.</a:t>
            </a:r>
          </a:p>
          <a:p>
            <a:pPr>
              <a:spcAft>
                <a:spcPts val="1000"/>
              </a:spcAft>
              <a:defRPr sz="1600">
                <a:solidFill>
                  <a:srgbClr val="263040"/>
                </a:solidFill>
                <a:latin typeface="Aptos"/>
              </a:defRPr>
            </a:pPr>
            <a:r>
              <a:t>•  No real UAV, hardware-in-the-loop or operational field validation is claimed.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Future work and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36F80"/>
                </a:solidFill>
                <a:latin typeface="Aptos"/>
              </a:defRPr>
            </a:pPr>
            <a:r>
              <a:t>Steps to turn the prototype into a validated adaptive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E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96112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36F80"/>
                </a:solidFill>
                <a:latin typeface="Aptos"/>
              </a:defRPr>
            </a:pPr>
            <a:r>
              <a:t>MACHINE LEARNING PROJECT  |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36F80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1115568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82296" cy="1115568"/>
          </a:xfrm>
          <a:prstGeom prst="rect">
            <a:avLst/>
          </a:prstGeom>
          <a:solidFill>
            <a:srgbClr val="2364B4"/>
          </a:solidFill>
          <a:ln>
            <a:solidFill>
              <a:srgbClr val="23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463039"/>
            <a:ext cx="48646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1.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892807"/>
            <a:ext cx="4864608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Use synchronized multi-UAV telemetry and document labels / sampling.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25880"/>
            <a:ext cx="5212080" cy="1115568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325880"/>
            <a:ext cx="82296" cy="1115568"/>
          </a:xfrm>
          <a:prstGeom prst="rect">
            <a:avLst/>
          </a:prstGeom>
          <a:solidFill>
            <a:srgbClr val="25AEBE"/>
          </a:solidFill>
          <a:ln>
            <a:solidFill>
              <a:srgbClr val="25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1463039"/>
            <a:ext cx="48646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2. Baselines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1892807"/>
            <a:ext cx="4864608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Compare fixed policy, heuristic policy and ML-only synchronization.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43200"/>
            <a:ext cx="5212080" cy="1115568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743200"/>
            <a:ext cx="82296" cy="1115568"/>
          </a:xfrm>
          <a:prstGeom prst="rect">
            <a:avLst/>
          </a:prstGeom>
          <a:solidFill>
            <a:srgbClr val="269170"/>
          </a:solidFill>
          <a:ln>
            <a:solidFill>
              <a:srgbClr val="269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2880360"/>
            <a:ext cx="48646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3. Bandit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310128"/>
            <a:ext cx="4864608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Implement a contextual policy with explicit action set and reward.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743200"/>
            <a:ext cx="5212080" cy="1115568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743200"/>
            <a:ext cx="82296" cy="1115568"/>
          </a:xfrm>
          <a:prstGeom prst="rect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2880360"/>
            <a:ext cx="48646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4.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310128"/>
            <a:ext cx="4864608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Run repeated scenarios; report reward, regret, sync spread and cost.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160520"/>
            <a:ext cx="5212080" cy="1115568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160520"/>
            <a:ext cx="82296" cy="1115568"/>
          </a:xfrm>
          <a:prstGeom prst="rect">
            <a:avLst/>
          </a:prstGeom>
          <a:solidFill>
            <a:srgbClr val="BE4C4C"/>
          </a:solidFill>
          <a:ln>
            <a:solidFill>
              <a:srgbClr val="BE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97680"/>
            <a:ext cx="48646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5. Retraining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727448"/>
            <a:ext cx="4864608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Add drift checks, minimum-data rules, validation and rollback.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160520"/>
            <a:ext cx="5212080" cy="1115568"/>
          </a:xfrm>
          <a:prstGeom prst="roundRect">
            <a:avLst/>
          </a:prstGeom>
          <a:solidFill>
            <a:srgbClr val="EDF4FB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4160520"/>
            <a:ext cx="82296" cy="1115568"/>
          </a:xfrm>
          <a:prstGeom prst="rect">
            <a:avLst/>
          </a:prstGeom>
          <a:solidFill>
            <a:srgbClr val="12203A"/>
          </a:solidFill>
          <a:ln>
            <a:solidFill>
              <a:srgbClr val="12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4297680"/>
            <a:ext cx="48646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6. Safety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4727448"/>
            <a:ext cx="4864608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63040"/>
                </a:solidFill>
                <a:latin typeface="Aptos"/>
              </a:defRPr>
            </a:pPr>
            <a:r>
              <a:t>Add constraints, fault handling and simulation / hardware-in-loop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806440"/>
            <a:ext cx="102412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2203A"/>
                </a:solidFill>
                <a:latin typeface="Aptos"/>
              </a:defRPr>
            </a:pPr>
            <a:r>
              <a:t>Success criterion: improved synchronization and twin freshness without unjustified update, energy or communication overhead.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